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f39bf44c07485f" /><Relationship Type="http://schemas.openxmlformats.org/officeDocument/2006/relationships/extended-properties" Target="/docProps/app.xml" Id="R74610b3a24114ddc" /><Relationship Type="http://schemas.openxmlformats.org/officeDocument/2006/relationships/officeDocument" Target="/ppt/presentation.xml" Id="R4694f10930ab49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d77962423247c1"/>
  </p:sldMasterIdLst>
  <p:notesMasterIdLst>
    <p:notesMasterId xmlns:r="http://schemas.openxmlformats.org/officeDocument/2006/relationships" r:id="R599185de459d4343"/>
  </p:notesMasterIdLst>
  <p:sldIdLst>
    <p:sldId xmlns:r="http://schemas.openxmlformats.org/officeDocument/2006/relationships" id="256" r:id="R3c5197b0a51847d1"/>
  </p:sldIdLst>
  <p:sldSz cx="13716000" cy="9715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694ddae38a44a5" /><Relationship Type="http://schemas.openxmlformats.org/officeDocument/2006/relationships/slideMaster" Target="/ppt/slideMasters/slideMaster1.xml" Id="R6cd77962423247c1" /><Relationship Type="http://schemas.openxmlformats.org/officeDocument/2006/relationships/notesMaster" Target="/ppt/notesMasters/notesMaster1.xml" Id="R599185de459d4343" /><Relationship Type="http://schemas.openxmlformats.org/officeDocument/2006/relationships/presProps" Target="/ppt/presProps.xml" Id="Rf6cdb88884f94c47" /><Relationship Type="http://schemas.openxmlformats.org/officeDocument/2006/relationships/tableStyles" Target="/ppt/tableStyles.xml" Id="R2c3dddb7a56e4ff2" /><Relationship Type="http://schemas.openxmlformats.org/officeDocument/2006/relationships/slide" Target="/ppt/slides/slide1.xml" Id="R3c5197b0a51847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1c7fdff9b643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4e8ac42a564833" /><Relationship Type="http://schemas.openxmlformats.org/officeDocument/2006/relationships/notesMaster" Target="/ppt/notesMasters/notesMaster1.xml" Id="Rca774ea65ab144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manuscript: /Users/supocoral/Github/OrbInspect/OrbInspectLatex/main.tex, especially the visibility/dwell model (lines 243–260), dynamic feasibility and cost (lines 264–287), SOOA definition and passive audit (lines 289–319), and finite graph (lines 344–372, 465–501).</a:t>
            </a:r>
          </a:p>
          <a:p xmlns:a="http://schemas.openxmlformats.org/drawingml/2006/main">
            <a:r>
              <a:t>- Local implementation: src/orbinspect_safety/orbinspect_safety/keepout_zones.py (station-primitive safety envelope rather than an ellipsoid).</a:t>
            </a:r>
          </a:p>
          <a:p xmlns:a="http://schemas.openxmlformats.org/drawingml/2006/main">
            <a:r>
              <a:t>- All visual elements are native editable PowerPoint shapes; no external image assets are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509678e1e47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77804a59fd4355" /><Relationship Type="http://schemas.openxmlformats.org/officeDocument/2006/relationships/slideLayout" Target="/ppt/slideLayouts/slideLayout1.xml" Id="R10dffa1c2af340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dffa1c2af340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aad5720574fcc" /><Relationship Type="http://schemas.openxmlformats.org/officeDocument/2006/relationships/notesSlide" Target="/ppt/notesSlides/notesSlide1.xml" Id="R0372f6f3ed164f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flow-rightArrow">
            <a:extLst xmlns:a="http://schemas.openxmlformats.org/drawingml/2006/main">
              <a:ext uri="{FF2B5EF4-FFF2-40B4-BE49-F238E27FC236}">
                <a16:creationId xmlns:a16="http://schemas.microsoft.com/office/drawing/2014/main" id="{796C2271-8A47-45D7-B830-7C8D6DAE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33600"/>
            <a:ext cx="4000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0014"/>
          </a:solidFill>
          <a:ln xmlns:a="http://schemas.openxmlformats.org/drawingml/2006/main" w="9525">
            <a:solidFill>
              <a:srgbClr val="750014"/>
            </a:solidFill>
            <a:prstDash val="solid"/>
          </a:ln>
        </p:spPr>
      </p:sp>
      <p:sp>
        <p:nvSpPr>
          <p:cNvPr id="2" name="flow-downArrow">
            <a:extLst xmlns:a="http://schemas.openxmlformats.org/drawingml/2006/main">
              <a:ext uri="{FF2B5EF4-FFF2-40B4-BE49-F238E27FC236}">
                <a16:creationId xmlns:a16="http://schemas.microsoft.com/office/drawing/2014/main" id="{CCDBCB3D-2DCC-47E5-8E6E-06931501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48175"/>
            <a:ext cx="4191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0014"/>
          </a:solidFill>
          <a:ln xmlns:a="http://schemas.openxmlformats.org/drawingml/2006/main" w="9525">
            <a:solidFill>
              <a:srgbClr val="750014"/>
            </a:solidFill>
            <a:prstDash val="solid"/>
          </a:ln>
        </p:spPr>
      </p:sp>
      <p:sp>
        <p:nvSpPr>
          <p:cNvPr id="3" name="flow-leftArrow">
            <a:extLst xmlns:a="http://schemas.openxmlformats.org/drawingml/2006/main">
              <a:ext uri="{FF2B5EF4-FFF2-40B4-BE49-F238E27FC236}">
                <a16:creationId xmlns:a16="http://schemas.microsoft.com/office/drawing/2014/main" id="{1A8C0B1F-6BDC-457F-90D8-A33927D4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705600"/>
            <a:ext cx="400050" cy="4191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750014"/>
          </a:solidFill>
          <a:ln xmlns:a="http://schemas.openxmlformats.org/drawingml/2006/main" w="9525">
            <a:solidFill>
              <a:srgbClr val="750014"/>
            </a:solidFill>
            <a:prstDash val="solid"/>
          </a:ln>
        </p:spPr>
      </p:sp>
      <p:sp>
        <p:nvSpPr>
          <p:cNvPr id="4" name="panel-A-surface">
            <a:extLst xmlns:a="http://schemas.openxmlformats.org/drawingml/2006/main">
              <a:ext uri="{FF2B5EF4-FFF2-40B4-BE49-F238E27FC236}">
                <a16:creationId xmlns:a16="http://schemas.microsoft.com/office/drawing/2014/main" id="{89282A0B-1A08-4429-8C81-CD9872BA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6515100" cy="43053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CCD0"/>
            </a:solidFill>
            <a:prstDash val="solid"/>
          </a:ln>
        </p:spPr>
      </p:sp>
      <p:sp>
        <p:nvSpPr>
          <p:cNvPr id="5" name="panel-A-badge">
            <a:extLst xmlns:a="http://schemas.openxmlformats.org/drawingml/2006/main">
              <a:ext uri="{FF2B5EF4-FFF2-40B4-BE49-F238E27FC236}">
                <a16:creationId xmlns:a16="http://schemas.microsoft.com/office/drawing/2014/main" id="{1FFD62DA-C93C-419D-B536-61D0AD90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0014"/>
          </a:solidFill>
          <a:ln xmlns:a="http://schemas.openxmlformats.org/drawingml/2006/main" w="9525">
            <a:solidFill>
              <a:srgbClr val="750014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727C43C1-105B-4FDF-976E-16ED2F40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Candidate observations around the structure</a:t>
            </a:r>
          </a:p>
        </p:txBody>
      </p:sp>
      <p:sp>
        <p:nvSpPr>
          <p:cNvPr id="7" name="panel-B-surface">
            <a:extLst xmlns:a="http://schemas.openxmlformats.org/drawingml/2006/main">
              <a:ext uri="{FF2B5EF4-FFF2-40B4-BE49-F238E27FC236}">
                <a16:creationId xmlns:a16="http://schemas.microsoft.com/office/drawing/2014/main" id="{A87F7307-141F-4E66-82AE-ED6598E7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"/>
            <a:ext cx="6515100" cy="43053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CCD0"/>
            </a:solidFill>
            <a:prstDash val="solid"/>
          </a:ln>
        </p:spPr>
      </p:sp>
      <p:sp>
        <p:nvSpPr>
          <p:cNvPr id="8" name="panel-B-badge">
            <a:extLst xmlns:a="http://schemas.openxmlformats.org/drawingml/2006/main">
              <a:ext uri="{FF2B5EF4-FFF2-40B4-BE49-F238E27FC236}">
                <a16:creationId xmlns:a16="http://schemas.microsoft.com/office/drawing/2014/main" id="{9C297FB5-0B60-46AA-A212-0227A340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0014"/>
          </a:solidFill>
          <a:ln xmlns:a="http://schemas.openxmlformats.org/drawingml/2006/main" w="9525">
            <a:solidFill>
              <a:srgbClr val="750014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DE54595E-4A04-4659-BC03-99FA6527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Fixed camera-valid mask at each observation</a:t>
            </a:r>
          </a:p>
        </p:txBody>
      </p:sp>
      <p:sp>
        <p:nvSpPr>
          <p:cNvPr id="10" name="panel-C-surface">
            <a:extLst xmlns:a="http://schemas.openxmlformats.org/drawingml/2006/main">
              <a:ext uri="{FF2B5EF4-FFF2-40B4-BE49-F238E27FC236}">
                <a16:creationId xmlns:a16="http://schemas.microsoft.com/office/drawing/2014/main" id="{A48F72F2-1B24-4BE2-9713-5E59CADB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6515100" cy="43053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CCD0"/>
            </a:solidFill>
            <a:prstDash val="solid"/>
          </a:ln>
        </p:spPr>
      </p:sp>
      <p:sp>
        <p:nvSpPr>
          <p:cNvPr id="11" name="panel-C-badge">
            <a:extLst xmlns:a="http://schemas.openxmlformats.org/drawingml/2006/main">
              <a:ext uri="{FF2B5EF4-FFF2-40B4-BE49-F238E27FC236}">
                <a16:creationId xmlns:a16="http://schemas.microsoft.com/office/drawing/2014/main" id="{6B08F1AB-7F50-47AB-B6D1-D2A40517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14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0014"/>
          </a:solidFill>
          <a:ln xmlns:a="http://schemas.openxmlformats.org/drawingml/2006/main" w="9525">
            <a:solidFill>
              <a:srgbClr val="750014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798ADC3A-780A-4109-AF01-BCF4D502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05375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Source-dependent SOOA construction and audits</a:t>
            </a:r>
          </a:p>
        </p:txBody>
      </p:sp>
      <p:sp>
        <p:nvSpPr>
          <p:cNvPr id="13" name="panel-D-surface">
            <a:extLst xmlns:a="http://schemas.openxmlformats.org/drawingml/2006/main">
              <a:ext uri="{FF2B5EF4-FFF2-40B4-BE49-F238E27FC236}">
                <a16:creationId xmlns:a16="http://schemas.microsoft.com/office/drawing/2014/main" id="{A5CB117A-90AE-477F-83FD-B3EF5D13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6515100" cy="43053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CCD0"/>
            </a:solidFill>
            <a:prstDash val="solid"/>
          </a:ln>
        </p:spPr>
      </p:sp>
      <p:sp>
        <p:nvSpPr>
          <p:cNvPr id="14" name="panel-D-badge">
            <a:extLst xmlns:a="http://schemas.openxmlformats.org/drawingml/2006/main">
              <a:ext uri="{FF2B5EF4-FFF2-40B4-BE49-F238E27FC236}">
                <a16:creationId xmlns:a16="http://schemas.microsoft.com/office/drawing/2014/main" id="{9824BDDC-A19F-4A9F-9705-E8D7F0CE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0014"/>
          </a:solidFill>
          <a:ln xmlns:a="http://schemas.openxmlformats.org/drawingml/2006/main" w="9525">
            <a:solidFill>
              <a:srgbClr val="750014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5" name="panel-D-title">
            <a:extLst xmlns:a="http://schemas.openxmlformats.org/drawingml/2006/main">
              <a:ext uri="{FF2B5EF4-FFF2-40B4-BE49-F238E27FC236}">
                <a16:creationId xmlns:a16="http://schemas.microsoft.com/office/drawing/2014/main" id="{B3BCBC38-8A25-4214-A000-9BF6B05C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Safe directed graph passed to rollout ADP</a:t>
            </a:r>
          </a:p>
        </p:txBody>
      </p:sp>
      <p:sp>
        <p:nvSpPr>
          <p:cNvPr id="16" name="A-candidate-shell">
            <a:extLst xmlns:a="http://schemas.openxmlformats.org/drawingml/2006/main">
              <a:ext uri="{FF2B5EF4-FFF2-40B4-BE49-F238E27FC236}">
                <a16:creationId xmlns:a16="http://schemas.microsoft.com/office/drawing/2014/main" id="{1359FA3D-4EBC-41CD-B423-E3B6C4F4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4953000" cy="2619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7E92"/>
            </a:solidFill>
            <a:prstDash val="dash"/>
          </a:ln>
        </p:spPr>
      </p:sp>
      <p:sp>
        <p:nvSpPr>
          <p:cNvPr id="17" name="A-safety-shell">
            <a:extLst xmlns:a="http://schemas.openxmlformats.org/drawingml/2006/main">
              <a:ext uri="{FF2B5EF4-FFF2-40B4-BE49-F238E27FC236}">
                <a16:creationId xmlns:a16="http://schemas.microsoft.com/office/drawing/2014/main" id="{443F9BA5-8F70-4137-ABE9-DAD44510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81150"/>
            <a:ext cx="33147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ECDB">
              <a:alpha val="35000"/>
            </a:srgbClr>
          </a:solidFill>
          <a:ln xmlns:a="http://schemas.openxmlformats.org/drawingml/2006/main" w="19050">
            <a:solidFill>
              <a:srgbClr val="37A537"/>
            </a:solidFill>
            <a:prstDash val="dash"/>
          </a:ln>
        </p:spPr>
      </p:sp>
      <p:sp>
        <p:nvSpPr>
          <p:cNvPr id="18" name="A-truss">
            <a:extLst xmlns:a="http://schemas.openxmlformats.org/drawingml/2006/main">
              <a:ext uri="{FF2B5EF4-FFF2-40B4-BE49-F238E27FC236}">
                <a16:creationId xmlns:a16="http://schemas.microsoft.com/office/drawing/2014/main" id="{A5D61A67-D800-424E-A680-0A54CBB2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622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E92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9" name="A-panel-170">
            <a:extLst xmlns:a="http://schemas.openxmlformats.org/drawingml/2006/main">
              <a:ext uri="{FF2B5EF4-FFF2-40B4-BE49-F238E27FC236}">
                <a16:creationId xmlns:a16="http://schemas.microsoft.com/office/drawing/2014/main" id="{9A4542DD-6736-47ED-A469-8D11D0ED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981200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E92">
              <a:alpha val="88000"/>
            </a:srgbClr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0" name="A-panel-256">
            <a:extLst xmlns:a="http://schemas.openxmlformats.org/drawingml/2006/main">
              <a:ext uri="{FF2B5EF4-FFF2-40B4-BE49-F238E27FC236}">
                <a16:creationId xmlns:a16="http://schemas.microsoft.com/office/drawing/2014/main" id="{42D94A5F-F800-469F-9141-19FAAB38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81200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E92">
              <a:alpha val="88000"/>
            </a:srgbClr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1" name="A-panel-392">
            <a:extLst xmlns:a="http://schemas.openxmlformats.org/drawingml/2006/main">
              <a:ext uri="{FF2B5EF4-FFF2-40B4-BE49-F238E27FC236}">
                <a16:creationId xmlns:a16="http://schemas.microsoft.com/office/drawing/2014/main" id="{961867E2-8FDF-409E-8957-C286FB14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81200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E92">
              <a:alpha val="88000"/>
            </a:srgbClr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2" name="A-panel-478">
            <a:extLst xmlns:a="http://schemas.openxmlformats.org/drawingml/2006/main">
              <a:ext uri="{FF2B5EF4-FFF2-40B4-BE49-F238E27FC236}">
                <a16:creationId xmlns:a16="http://schemas.microsoft.com/office/drawing/2014/main" id="{A3B89C4A-3626-41C6-B53E-B02ACE88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81200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E92">
              <a:alpha val="88000"/>
            </a:srgbClr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3" name="A-core">
            <a:extLst xmlns:a="http://schemas.openxmlformats.org/drawingml/2006/main">
              <a:ext uri="{FF2B5EF4-FFF2-40B4-BE49-F238E27FC236}">
                <a16:creationId xmlns:a16="http://schemas.microsoft.com/office/drawing/2014/main" id="{924C4810-1D25-4F98-8C91-22BAD52D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847850"/>
            <a:ext cx="781050" cy="10477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3CCD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4" name="A-spine">
            <a:extLst xmlns:a="http://schemas.openxmlformats.org/drawingml/2006/main">
              <a:ext uri="{FF2B5EF4-FFF2-40B4-BE49-F238E27FC236}">
                <a16:creationId xmlns:a16="http://schemas.microsoft.com/office/drawing/2014/main" id="{F1904946-5D08-4739-807D-83E8613E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66850"/>
            <a:ext cx="342900" cy="18097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3CCD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5" name="A-candidate-1">
            <a:extLst xmlns:a="http://schemas.openxmlformats.org/drawingml/2006/main">
              <a:ext uri="{FF2B5EF4-FFF2-40B4-BE49-F238E27FC236}">
                <a16:creationId xmlns:a16="http://schemas.microsoft.com/office/drawing/2014/main" id="{023567A8-79B4-4544-BD31-344FAC8C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05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87E92"/>
            </a:solidFill>
            <a:prstDash val="solid"/>
          </a:ln>
        </p:spPr>
      </p:sp>
      <p:sp>
        <p:nvSpPr>
          <p:cNvPr id="26" name="A-candidate-mark-1">
            <a:extLst xmlns:a="http://schemas.openxmlformats.org/drawingml/2006/main">
              <a:ext uri="{FF2B5EF4-FFF2-40B4-BE49-F238E27FC236}">
                <a16:creationId xmlns:a16="http://schemas.microsoft.com/office/drawing/2014/main" id="{7349E352-D644-474E-BD8D-142EAF1F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812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DE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7" name="A-candidate-2">
            <a:extLst xmlns:a="http://schemas.openxmlformats.org/drawingml/2006/main">
              <a:ext uri="{FF2B5EF4-FFF2-40B4-BE49-F238E27FC236}">
                <a16:creationId xmlns:a16="http://schemas.microsoft.com/office/drawing/2014/main" id="{0E0B9485-3218-4762-8F30-59E13850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228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87E92"/>
            </a:solidFill>
            <a:prstDash val="solid"/>
          </a:ln>
        </p:spPr>
      </p:sp>
      <p:sp>
        <p:nvSpPr>
          <p:cNvPr id="28" name="A-candidate-mark-2">
            <a:extLst xmlns:a="http://schemas.openxmlformats.org/drawingml/2006/main">
              <a:ext uri="{FF2B5EF4-FFF2-40B4-BE49-F238E27FC236}">
                <a16:creationId xmlns:a16="http://schemas.microsoft.com/office/drawing/2014/main" id="{87245ADE-9B7E-4710-B099-A0B340A6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304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3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9" name="A-candidate-3">
            <a:extLst xmlns:a="http://schemas.openxmlformats.org/drawingml/2006/main">
              <a:ext uri="{FF2B5EF4-FFF2-40B4-BE49-F238E27FC236}">
                <a16:creationId xmlns:a16="http://schemas.microsoft.com/office/drawing/2014/main" id="{37EBBAFB-176F-492C-9B48-771E6FE6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000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87E92"/>
            </a:solidFill>
            <a:prstDash val="solid"/>
          </a:ln>
        </p:spPr>
      </p:sp>
      <p:sp>
        <p:nvSpPr>
          <p:cNvPr id="30" name="A-candidate-mark-3">
            <a:extLst xmlns:a="http://schemas.openxmlformats.org/drawingml/2006/main">
              <a:ext uri="{FF2B5EF4-FFF2-40B4-BE49-F238E27FC236}">
                <a16:creationId xmlns:a16="http://schemas.microsoft.com/office/drawing/2014/main" id="{CBAFE610-BB73-4C44-8A4E-097ED81B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0763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7A53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31" name="A-candidate-4">
            <a:extLst xmlns:a="http://schemas.openxmlformats.org/drawingml/2006/main">
              <a:ext uri="{FF2B5EF4-FFF2-40B4-BE49-F238E27FC236}">
                <a16:creationId xmlns:a16="http://schemas.microsoft.com/office/drawing/2014/main" id="{EBE9688A-C796-493B-AD82-2048E9F5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28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87E92"/>
            </a:solidFill>
            <a:prstDash val="solid"/>
          </a:ln>
        </p:spPr>
      </p:sp>
      <p:sp>
        <p:nvSpPr>
          <p:cNvPr id="32" name="A-candidate-mark-4">
            <a:extLst xmlns:a="http://schemas.openxmlformats.org/drawingml/2006/main">
              <a:ext uri="{FF2B5EF4-FFF2-40B4-BE49-F238E27FC236}">
                <a16:creationId xmlns:a16="http://schemas.microsoft.com/office/drawing/2014/main" id="{7EC7459E-7DD8-4B44-8361-A1662314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304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E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33" name="A-candidate-5">
            <a:extLst xmlns:a="http://schemas.openxmlformats.org/drawingml/2006/main">
              <a:ext uri="{FF2B5EF4-FFF2-40B4-BE49-F238E27FC236}">
                <a16:creationId xmlns:a16="http://schemas.microsoft.com/office/drawing/2014/main" id="{50638B5A-DB7F-426B-A3A9-6DC0EF82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162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87E92"/>
            </a:solidFill>
            <a:prstDash val="solid"/>
          </a:ln>
        </p:spPr>
      </p:sp>
      <p:sp>
        <p:nvSpPr>
          <p:cNvPr id="34" name="A-candidate-mark-5">
            <a:extLst xmlns:a="http://schemas.openxmlformats.org/drawingml/2006/main">
              <a:ext uri="{FF2B5EF4-FFF2-40B4-BE49-F238E27FC236}">
                <a16:creationId xmlns:a16="http://schemas.microsoft.com/office/drawing/2014/main" id="{024E197E-59F2-46AE-9896-01DF02D5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3837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7A53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35" name="A-candidate-6">
            <a:extLst xmlns:a="http://schemas.openxmlformats.org/drawingml/2006/main">
              <a:ext uri="{FF2B5EF4-FFF2-40B4-BE49-F238E27FC236}">
                <a16:creationId xmlns:a16="http://schemas.microsoft.com/office/drawing/2014/main" id="{B5E5CCD6-2C47-4BDA-BFB2-A69DB599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86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87E92"/>
            </a:solidFill>
            <a:prstDash val="solid"/>
          </a:ln>
        </p:spPr>
      </p:sp>
      <p:sp>
        <p:nvSpPr>
          <p:cNvPr id="36" name="A-candidate-mark-6">
            <a:extLst xmlns:a="http://schemas.openxmlformats.org/drawingml/2006/main">
              <a:ext uri="{FF2B5EF4-FFF2-40B4-BE49-F238E27FC236}">
                <a16:creationId xmlns:a16="http://schemas.microsoft.com/office/drawing/2014/main" id="{0D8E6C0C-B17C-46F6-9158-6A21E5B9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3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37" name="A-candidate-7">
            <a:extLst xmlns:a="http://schemas.openxmlformats.org/drawingml/2006/main">
              <a:ext uri="{FF2B5EF4-FFF2-40B4-BE49-F238E27FC236}">
                <a16:creationId xmlns:a16="http://schemas.microsoft.com/office/drawing/2014/main" id="{65E403CF-4F23-4352-B1E1-3EBD0566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48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87E92"/>
            </a:solidFill>
            <a:prstDash val="solid"/>
          </a:ln>
        </p:spPr>
      </p:sp>
      <p:sp>
        <p:nvSpPr>
          <p:cNvPr id="38" name="A-candidate-mark-7">
            <a:extLst xmlns:a="http://schemas.openxmlformats.org/drawingml/2006/main">
              <a:ext uri="{FF2B5EF4-FFF2-40B4-BE49-F238E27FC236}">
                <a16:creationId xmlns:a16="http://schemas.microsoft.com/office/drawing/2014/main" id="{EA65DBD6-8259-4E9E-949D-FF564DCE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72427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DE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39" name="A-candidate-8">
            <a:extLst xmlns:a="http://schemas.openxmlformats.org/drawingml/2006/main">
              <a:ext uri="{FF2B5EF4-FFF2-40B4-BE49-F238E27FC236}">
                <a16:creationId xmlns:a16="http://schemas.microsoft.com/office/drawing/2014/main" id="{6587B209-5792-4EAF-B207-3E77309C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286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87E92"/>
            </a:solidFill>
            <a:prstDash val="solid"/>
          </a:ln>
        </p:spPr>
      </p:sp>
      <p:sp>
        <p:nvSpPr>
          <p:cNvPr id="40" name="A-candidate-mark-8">
            <a:extLst xmlns:a="http://schemas.openxmlformats.org/drawingml/2006/main">
              <a:ext uri="{FF2B5EF4-FFF2-40B4-BE49-F238E27FC236}">
                <a16:creationId xmlns:a16="http://schemas.microsoft.com/office/drawing/2014/main" id="{55EB6537-0423-4968-B558-C2E52F51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3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41" name="A-target-1">
            <a:extLst xmlns:a="http://schemas.openxmlformats.org/drawingml/2006/main">
              <a:ext uri="{FF2B5EF4-FFF2-40B4-BE49-F238E27FC236}">
                <a16:creationId xmlns:a16="http://schemas.microsoft.com/office/drawing/2014/main" id="{1CADB129-FBF9-450B-A66D-0DCEE5DD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43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3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42" name="A-target-2">
            <a:extLst xmlns:a="http://schemas.openxmlformats.org/drawingml/2006/main">
              <a:ext uri="{FF2B5EF4-FFF2-40B4-BE49-F238E27FC236}">
                <a16:creationId xmlns:a16="http://schemas.microsoft.com/office/drawing/2014/main" id="{27F72A1D-A817-4F1F-B775-B0488873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81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3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43" name="A-target-3">
            <a:extLst xmlns:a="http://schemas.openxmlformats.org/drawingml/2006/main">
              <a:ext uri="{FF2B5EF4-FFF2-40B4-BE49-F238E27FC236}">
                <a16:creationId xmlns:a16="http://schemas.microsoft.com/office/drawing/2014/main" id="{1FCA1E34-3885-4E95-B52C-D5C45258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DE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44" name="A-target-4">
            <a:extLst xmlns:a="http://schemas.openxmlformats.org/drawingml/2006/main">
              <a:ext uri="{FF2B5EF4-FFF2-40B4-BE49-F238E27FC236}">
                <a16:creationId xmlns:a16="http://schemas.microsoft.com/office/drawing/2014/main" id="{7EF86331-027B-450C-8E18-4FD6D4B4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57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3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45" name="A-target-5">
            <a:extLst xmlns:a="http://schemas.openxmlformats.org/drawingml/2006/main">
              <a:ext uri="{FF2B5EF4-FFF2-40B4-BE49-F238E27FC236}">
                <a16:creationId xmlns:a16="http://schemas.microsoft.com/office/drawing/2014/main" id="{4C341393-E7D4-4CD8-AAC1-9C3FD760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66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3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46" name="A-current-state">
            <a:extLst xmlns:a="http://schemas.openxmlformats.org/drawingml/2006/main">
              <a:ext uri="{FF2B5EF4-FFF2-40B4-BE49-F238E27FC236}">
                <a16:creationId xmlns:a16="http://schemas.microsoft.com/office/drawing/2014/main" id="{BD19F0E0-0D4C-4DAD-835E-86DC1A3D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05225"/>
            <a:ext cx="266700" cy="26670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750014"/>
          </a:solidFill>
          <a:ln xmlns:a="http://schemas.openxmlformats.org/drawingml/2006/main" w="9525">
            <a:solidFill>
              <a:srgbClr val="750014"/>
            </a:solidFill>
            <a:prstDash val="solid"/>
          </a:ln>
        </p:spPr>
      </p:sp>
      <p:sp>
        <p:nvSpPr>
          <p:cNvPr id="47" name="A-current-state-label">
            <a:extLst xmlns:a="http://schemas.openxmlformats.org/drawingml/2006/main">
              <a:ext uri="{FF2B5EF4-FFF2-40B4-BE49-F238E27FC236}">
                <a16:creationId xmlns:a16="http://schemas.microsoft.com/office/drawing/2014/main" id="{8A8125DC-896F-42A9-BFD8-0F8AD039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861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75001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50014"/>
                </a:solidFill>
                <a:latin typeface="Arial"/>
                <a:ea typeface="Arial"/>
                <a:cs typeface="Arial"/>
              </a:rPr>
              <a:t>current state x0</a:t>
            </a:r>
          </a:p>
        </p:txBody>
      </p:sp>
      <p:sp>
        <p:nvSpPr>
          <p:cNvPr id="48" name="A-node-definition">
            <a:extLst xmlns:a="http://schemas.openxmlformats.org/drawingml/2006/main">
              <a:ext uri="{FF2B5EF4-FFF2-40B4-BE49-F238E27FC236}">
                <a16:creationId xmlns:a16="http://schemas.microsoft.com/office/drawing/2014/main" id="{39FD1B49-DC6E-4E19-B88C-96A58BE5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67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587E9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587E92"/>
                </a:solidFill>
                <a:latin typeface="Arial"/>
                <a:ea typeface="Arial"/>
                <a:cs typeface="Arial"/>
              </a:rPr>
              <a:t>node j = (r_j, q_j)</a:t>
            </a:r>
          </a:p>
        </p:txBody>
      </p:sp>
      <p:sp>
        <p:nvSpPr>
          <p:cNvPr id="49" name="A-safety-label">
            <a:extLst xmlns:a="http://schemas.openxmlformats.org/drawingml/2006/main">
              <a:ext uri="{FF2B5EF4-FFF2-40B4-BE49-F238E27FC236}">
                <a16:creationId xmlns:a16="http://schemas.microsoft.com/office/drawing/2014/main" id="{6295DE24-E80E-4889-9395-E39B566C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194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37A5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7A537"/>
                </a:solidFill>
                <a:latin typeface="Arial"/>
                <a:ea typeface="Arial"/>
                <a:cs typeface="Arial"/>
              </a:rPr>
              <a:t>mesh clearance &gt;= d_safe</a:t>
            </a:r>
          </a:p>
        </p:txBody>
      </p:sp>
      <p:sp>
        <p:nvSpPr>
          <p:cNvPr id="50" name="A-covered-marker">
            <a:extLst xmlns:a="http://schemas.openxmlformats.org/drawingml/2006/main">
              <a:ext uri="{FF2B5EF4-FFF2-40B4-BE49-F238E27FC236}">
                <a16:creationId xmlns:a16="http://schemas.microsoft.com/office/drawing/2014/main" id="{E6C72C23-D416-49A6-9B78-CDBE29C4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3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51" name="A-covered-label">
            <a:extLst xmlns:a="http://schemas.openxmlformats.org/drawingml/2006/main">
              <a:ext uri="{FF2B5EF4-FFF2-40B4-BE49-F238E27FC236}">
                <a16:creationId xmlns:a16="http://schemas.microsoft.com/office/drawing/2014/main" id="{752F1A47-285A-4058-A232-E4952790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covered target</a:t>
            </a:r>
          </a:p>
        </p:txBody>
      </p:sp>
      <p:sp>
        <p:nvSpPr>
          <p:cNvPr id="52" name="A-uncovered-marker">
            <a:extLst xmlns:a="http://schemas.openxmlformats.org/drawingml/2006/main">
              <a:ext uri="{FF2B5EF4-FFF2-40B4-BE49-F238E27FC236}">
                <a16:creationId xmlns:a16="http://schemas.microsoft.com/office/drawing/2014/main" id="{6147AB3E-CF6C-4A31-9353-1D6D7203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52900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DE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53" name="A-uncovered-label">
            <a:extLst xmlns:a="http://schemas.openxmlformats.org/drawingml/2006/main">
              <a:ext uri="{FF2B5EF4-FFF2-40B4-BE49-F238E27FC236}">
                <a16:creationId xmlns:a16="http://schemas.microsoft.com/office/drawing/2014/main" id="{0E930AF5-3727-495A-BADC-9A8795A5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14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not yet covered</a:t>
            </a:r>
          </a:p>
        </p:txBody>
      </p:sp>
      <p:sp>
        <p:nvSpPr>
          <p:cNvPr id="54" name="B-camera-body">
            <a:extLst xmlns:a="http://schemas.openxmlformats.org/drawingml/2006/main">
              <a:ext uri="{FF2B5EF4-FFF2-40B4-BE49-F238E27FC236}">
                <a16:creationId xmlns:a16="http://schemas.microsoft.com/office/drawing/2014/main" id="{83FB45E3-EA6B-4D8D-B2CF-4C14E3F8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85900"/>
            <a:ext cx="800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87E92"/>
          </a:solidFill>
          <a:ln xmlns:a="http://schemas.openxmlformats.org/drawingml/2006/main" w="19050">
            <a:solidFill>
              <a:srgbClr val="1E293B"/>
            </a:solidFill>
            <a:prstDash val="solid"/>
          </a:ln>
        </p:spPr>
      </p:sp>
      <p:sp>
        <p:nvSpPr>
          <p:cNvPr id="55" name="B-camera-lens">
            <a:extLst xmlns:a="http://schemas.openxmlformats.org/drawingml/2006/main">
              <a:ext uri="{FF2B5EF4-FFF2-40B4-BE49-F238E27FC236}">
                <a16:creationId xmlns:a16="http://schemas.microsoft.com/office/drawing/2014/main" id="{C9C07563-4709-4E8C-89A7-CF0AE4BF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3F98"/>
          </a:solidFill>
          <a:ln xmlns:a="http://schemas.openxmlformats.org/drawingml/2006/main" w="19050">
            <a:solidFill>
              <a:srgbClr val="1E293B"/>
            </a:solidFill>
            <a:prstDash val="solid"/>
          </a:ln>
        </p:spPr>
      </p:sp>
      <p:sp>
        <p:nvSpPr>
          <p:cNvPr id="56" name="B-target-surface">
            <a:extLst xmlns:a="http://schemas.openxmlformats.org/drawingml/2006/main">
              <a:ext uri="{FF2B5EF4-FFF2-40B4-BE49-F238E27FC236}">
                <a16:creationId xmlns:a16="http://schemas.microsoft.com/office/drawing/2014/main" id="{F56F5DE1-BA13-4A07-8B9A-0D44890A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1295400"/>
            <a:ext cx="971550" cy="16573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3CCD0"/>
          </a:solidFill>
          <a:ln xmlns:a="http://schemas.openxmlformats.org/drawingml/2006/main" w="19050">
            <a:solidFill>
              <a:srgbClr val="1E293B"/>
            </a:solidFill>
            <a:prstDash val="solid"/>
          </a:ln>
        </p:spPr>
      </p:sp>
      <p:sp>
        <p:nvSpPr>
          <p:cNvPr id="57" name="B-visible-target">
            <a:extLst xmlns:a="http://schemas.openxmlformats.org/drawingml/2006/main">
              <a:ext uri="{FF2B5EF4-FFF2-40B4-BE49-F238E27FC236}">
                <a16:creationId xmlns:a16="http://schemas.microsoft.com/office/drawing/2014/main" id="{C8FBDAE7-61EB-45A2-A488-D156AF1A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305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3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58" name="B-occluded-target">
            <a:extLst xmlns:a="http://schemas.openxmlformats.org/drawingml/2006/main">
              <a:ext uri="{FF2B5EF4-FFF2-40B4-BE49-F238E27FC236}">
                <a16:creationId xmlns:a16="http://schemas.microsoft.com/office/drawing/2014/main" id="{56ED72C9-E323-4B65-BF9A-20C3EDC5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343150"/>
            <a:ext cx="209550" cy="209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4624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59" name="B-occluder">
            <a:extLst xmlns:a="http://schemas.openxmlformats.org/drawingml/2006/main">
              <a:ext uri="{FF2B5EF4-FFF2-40B4-BE49-F238E27FC236}">
                <a16:creationId xmlns:a16="http://schemas.microsoft.com/office/drawing/2014/main" id="{38B0F134-C810-4BE7-BC55-982CAD54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1905000"/>
            <a:ext cx="838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E92">
              <a:alpha val="45000"/>
            </a:srgbClr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cxnSp>
        <p:nvCxnSpPr>
          <p:cNvPr id="161" name=""/>
          <p:cNvCxnSpPr>
            <a:stCxn xmlns:a="http://schemas.openxmlformats.org/drawingml/2006/main" id="54" idx="3"/>
            <a:endCxn xmlns:a="http://schemas.openxmlformats.org/drawingml/2006/main" id="57" idx="2"/>
          </p:cNvCxnSpPr>
          <p:nvPr/>
        </p:nvCxnSpPr>
        <p:spPr>
          <a:xfrm xmlns:a="http://schemas.openxmlformats.org/drawingml/2006/main">
            <a:off x="8343900" y="1790700"/>
            <a:ext cx="3305175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7A537"/>
            </a:solidFill>
            <a:prstDash val="solid"/>
            <a:tailEnd type="triangle" w="med" len="med"/>
          </a:ln>
        </p:spPr>
      </p:cxnSp>
      <p:cxnSp>
        <p:nvCxnSpPr>
          <p:cNvPr id="162" name=""/>
          <p:cNvCxnSpPr>
            <a:stCxn xmlns:a="http://schemas.openxmlformats.org/drawingml/2006/main" id="54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8343900" y="1790700"/>
            <a:ext cx="422910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46240"/>
            </a:solidFill>
            <a:prstDash val="dash"/>
            <a:tailEnd type="triangle" w="med" len="med"/>
          </a:ln>
        </p:spPr>
      </p:cxnSp>
      <p:sp>
        <p:nvSpPr>
          <p:cNvPr id="62" name="B-fov-upper">
            <a:extLst xmlns:a="http://schemas.openxmlformats.org/drawingml/2006/main">
              <a:ext uri="{FF2B5EF4-FFF2-40B4-BE49-F238E27FC236}">
                <a16:creationId xmlns:a16="http://schemas.microsoft.com/office/drawing/2014/main" id="{D2F0F8FD-4D01-4CD4-B96E-9B84671C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316230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3F98"/>
            </a:solidFill>
            <a:prstDash val="dash"/>
          </a:ln>
        </p:spPr>
      </p:sp>
      <p:sp>
        <p:nvSpPr>
          <p:cNvPr id="63" name="B-fov-lower">
            <a:extLst xmlns:a="http://schemas.openxmlformats.org/drawingml/2006/main">
              <a:ext uri="{FF2B5EF4-FFF2-40B4-BE49-F238E27FC236}">
                <a16:creationId xmlns:a16="http://schemas.microsoft.com/office/drawing/2014/main" id="{449736CB-439F-42B3-841E-FFE0B2A0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316230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3F98"/>
            </a:solidFill>
            <a:prstDash val="dash"/>
          </a:ln>
        </p:spPr>
      </p:sp>
      <p:sp>
        <p:nvSpPr>
          <p:cNvPr id="64" name="B-range-label">
            <a:extLst xmlns:a="http://schemas.openxmlformats.org/drawingml/2006/main">
              <a:ext uri="{FF2B5EF4-FFF2-40B4-BE49-F238E27FC236}">
                <a16:creationId xmlns:a16="http://schemas.microsoft.com/office/drawing/2014/main" id="{2FD1F4AF-64EA-49FD-90C3-E69B4546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1430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587E9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587E92"/>
                </a:solidFill>
                <a:latin typeface="Arial"/>
                <a:ea typeface="Arial"/>
                <a:cs typeface="Arial"/>
              </a:rPr>
              <a:t>range</a:t>
            </a:r>
          </a:p>
        </p:txBody>
      </p:sp>
      <p:sp>
        <p:nvSpPr>
          <p:cNvPr id="65" name="B-fov-label">
            <a:extLst xmlns:a="http://schemas.openxmlformats.org/drawingml/2006/main">
              <a:ext uri="{FF2B5EF4-FFF2-40B4-BE49-F238E27FC236}">
                <a16:creationId xmlns:a16="http://schemas.microsoft.com/office/drawing/2014/main" id="{5FDD8785-EC6F-4B8E-8E8D-3734D35E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812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7F3F9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F3F98"/>
                </a:solidFill>
                <a:latin typeface="Arial"/>
                <a:ea typeface="Arial"/>
                <a:cs typeface="Arial"/>
              </a:rPr>
              <a:t>FOV</a:t>
            </a:r>
          </a:p>
        </p:txBody>
      </p:sp>
      <p:sp>
        <p:nvSpPr>
          <p:cNvPr id="66" name="B-los-pass-label">
            <a:extLst xmlns:a="http://schemas.openxmlformats.org/drawingml/2006/main">
              <a:ext uri="{FF2B5EF4-FFF2-40B4-BE49-F238E27FC236}">
                <a16:creationId xmlns:a16="http://schemas.microsoft.com/office/drawing/2014/main" id="{907CB9D6-6309-4B6F-AFEB-E6DED8DA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57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37A5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7A537"/>
                </a:solidFill>
                <a:latin typeface="Arial"/>
                <a:ea typeface="Arial"/>
                <a:cs typeface="Arial"/>
              </a:rPr>
              <a:t>LOS pass</a:t>
            </a:r>
          </a:p>
        </p:txBody>
      </p:sp>
      <p:sp>
        <p:nvSpPr>
          <p:cNvPr id="67" name="B-los-fail-label">
            <a:extLst xmlns:a="http://schemas.openxmlformats.org/drawingml/2006/main">
              <a:ext uri="{FF2B5EF4-FFF2-40B4-BE49-F238E27FC236}">
                <a16:creationId xmlns:a16="http://schemas.microsoft.com/office/drawing/2014/main" id="{BFB2EFB6-9443-483D-91E3-41B25397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5717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E4624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46240"/>
                </a:solidFill>
                <a:latin typeface="Arial"/>
                <a:ea typeface="Arial"/>
                <a:cs typeface="Arial"/>
              </a:rPr>
              <a:t>LOS blocked</a:t>
            </a:r>
          </a:p>
        </p:txBody>
      </p:sp>
      <p:sp>
        <p:nvSpPr>
          <p:cNvPr id="68" name="B-mask-box">
            <a:extLst xmlns:a="http://schemas.openxmlformats.org/drawingml/2006/main">
              <a:ext uri="{FF2B5EF4-FFF2-40B4-BE49-F238E27FC236}">
                <a16:creationId xmlns:a16="http://schemas.microsoft.com/office/drawing/2014/main" id="{3F4E853D-41FD-46CD-8479-F56AD799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5715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CCECDB">
              <a:alpha val="55000"/>
            </a:srgbClr>
          </a:solidFill>
          <a:ln xmlns:a="http://schemas.openxmlformats.org/drawingml/2006/main" w="19050">
            <a:solidFill>
              <a:srgbClr val="37A537"/>
            </a:solidFill>
            <a:prstDash val="solid"/>
          </a:ln>
        </p:spPr>
      </p:sp>
      <p:sp>
        <p:nvSpPr>
          <p:cNvPr id="69" name="B-mask-equation">
            <a:extLst xmlns:a="http://schemas.openxmlformats.org/drawingml/2006/main">
              <a:ext uri="{FF2B5EF4-FFF2-40B4-BE49-F238E27FC236}">
                <a16:creationId xmlns:a16="http://schemas.microsoft.com/office/drawing/2014/main" id="{D8339AE1-9C06-4418-8403-53416CA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G_j = {target i : range, FOV, incidence, and full-mesh LOS all pass}</a:t>
            </a:r>
          </a:p>
        </p:txBody>
      </p:sp>
      <p:sp>
        <p:nvSpPr>
          <p:cNvPr id="70" name="B-credit-semantics">
            <a:extLst xmlns:a="http://schemas.openxmlformats.org/drawingml/2006/main">
              <a:ext uri="{FF2B5EF4-FFF2-40B4-BE49-F238E27FC236}">
                <a16:creationId xmlns:a16="http://schemas.microsoft.com/office/drawing/2014/main" id="{E98E6BFB-4F23-419D-BA94-931C813F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909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 i="1">
                <a:solidFill>
                  <a:srgbClr val="587E92"/>
                </a:solidFill>
                <a:latin typeface="Arial"/>
                <a:ea typeface="Arial"/>
                <a:cs typeface="Arial"/>
              </a:defRPr>
            </a:pPr>
            <a:r>
              <a:rPr sz="1800" b="0" i="1">
                <a:solidFill>
                  <a:srgbClr val="587E92"/>
                </a:solidFill>
                <a:latin typeface="Arial"/>
                <a:ea typeface="Arial"/>
                <a:cs typeface="Arial"/>
              </a:rPr>
              <a:t>Coverage is credited only at the prescribed observation; exposure is not integrated.</a:t>
            </a:r>
          </a:p>
        </p:txBody>
      </p:sp>
      <p:sp>
        <p:nvSpPr>
          <p:cNvPr id="71" name="C-source-node">
            <a:extLst xmlns:a="http://schemas.openxmlformats.org/drawingml/2006/main">
              <a:ext uri="{FF2B5EF4-FFF2-40B4-BE49-F238E27FC236}">
                <a16:creationId xmlns:a16="http://schemas.microsoft.com/office/drawing/2014/main" id="{E7BA8D40-89A4-4357-AB18-C03F31DD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6000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50014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5001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5001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72" name="C-destination-node">
            <a:extLst xmlns:a="http://schemas.openxmlformats.org/drawingml/2006/main">
              <a:ext uri="{FF2B5EF4-FFF2-40B4-BE49-F238E27FC236}">
                <a16:creationId xmlns:a16="http://schemas.microsoft.com/office/drawing/2014/main" id="{41EAA868-F41F-406D-A56D-27C38A21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000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87E9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E9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87E92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cxnSp>
        <p:nvCxnSpPr>
          <p:cNvPr id="174" name=""/>
          <p:cNvCxnSpPr>
            <a:stCxn xmlns:a="http://schemas.openxmlformats.org/drawingml/2006/main" id="71" idx="6"/>
            <a:endCxn xmlns:a="http://schemas.openxmlformats.org/drawingml/2006/main" id="72" idx="2"/>
          </p:cNvCxnSpPr>
          <p:nvPr/>
        </p:nvCxnSpPr>
        <p:spPr>
          <a:xfrm xmlns:a="http://schemas.openxmlformats.org/drawingml/2006/main">
            <a:off x="8324850" y="6343650"/>
            <a:ext cx="3771900" cy="0"/>
          </a:xfrm>
          <a:prstGeom xmlns:a="http://schemas.openxmlformats.org/drawingml/2006/main" prst="curvedConnector2">
            <a:avLst/>
          </a:prstGeom>
          <a:ln xmlns:a="http://schemas.openxmlformats.org/drawingml/2006/main" w="38100">
            <a:solidFill>
              <a:srgbClr val="750014"/>
            </a:solidFill>
            <a:prstDash val="solid"/>
            <a:tailEnd type="triangle" w="med" len="med"/>
          </a:ln>
        </p:spPr>
      </p:cxnSp>
      <p:cxnSp>
        <p:nvCxnSpPr>
          <p:cNvPr id="175" name=""/>
          <p:cNvCxnSpPr>
            <a:stCxn xmlns:a="http://schemas.openxmlformats.org/drawingml/2006/main" id="72" idx="2"/>
            <a:endCxn xmlns:a="http://schemas.openxmlformats.org/drawingml/2006/main" id="71" idx="6"/>
          </p:cNvCxnSpPr>
          <p:nvPr/>
        </p:nvCxnSpPr>
        <p:spPr>
          <a:xfrm xmlns:a="http://schemas.openxmlformats.org/drawingml/2006/main" flipH="1">
            <a:off x="8324850" y="6343650"/>
            <a:ext cx="3771900" cy="0"/>
          </a:xfrm>
          <a:prstGeom xmlns:a="http://schemas.openxmlformats.org/drawingml/2006/main" prst="curvedConnector2">
            <a:avLst/>
          </a:prstGeom>
          <a:ln xmlns:a="http://schemas.openxmlformats.org/drawingml/2006/main" w="28575">
            <a:solidFill>
              <a:srgbClr val="587E92"/>
            </a:solidFill>
            <a:prstDash val="dash"/>
            <a:tailEnd type="triangle" w="med" len="med"/>
          </a:ln>
        </p:spPr>
      </p:cxnSp>
      <p:sp>
        <p:nvSpPr>
          <p:cNvPr id="75" name="C-forward-label">
            <a:extLst xmlns:a="http://schemas.openxmlformats.org/drawingml/2006/main">
              <a:ext uri="{FF2B5EF4-FFF2-40B4-BE49-F238E27FC236}">
                <a16:creationId xmlns:a16="http://schemas.microsoft.com/office/drawing/2014/main" id="{F7414753-123C-454E-BCD1-15170154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578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75001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50014"/>
                </a:solidFill>
                <a:latin typeface="Arial"/>
                <a:ea typeface="Arial"/>
                <a:cs typeface="Arial"/>
              </a:rPr>
              <a:t>a_ij: finite-duration HCW transfer</a:t>
            </a:r>
          </a:p>
        </p:txBody>
      </p:sp>
      <p:sp>
        <p:nvSpPr>
          <p:cNvPr id="76" name="C-reverse-label">
            <a:extLst xmlns:a="http://schemas.openxmlformats.org/drawingml/2006/main">
              <a:ext uri="{FF2B5EF4-FFF2-40B4-BE49-F238E27FC236}">
                <a16:creationId xmlns:a16="http://schemas.microsoft.com/office/drawing/2014/main" id="{68505B5E-2E8C-4D01-A7A7-73A23458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70560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587E9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587E92"/>
                </a:solidFill>
                <a:latin typeface="Arial"/>
                <a:ea typeface="Arial"/>
                <a:cs typeface="Arial"/>
              </a:rPr>
              <a:t>a_ji is solved separately; a_ij != a_ji</a:t>
            </a:r>
          </a:p>
        </p:txBody>
      </p:sp>
      <p:sp>
        <p:nvSpPr>
          <p:cNvPr id="77" name="C-audit-box">
            <a:extLst xmlns:a="http://schemas.openxmlformats.org/drawingml/2006/main">
              <a:ext uri="{FF2B5EF4-FFF2-40B4-BE49-F238E27FC236}">
                <a16:creationId xmlns:a16="http://schemas.microsoft.com/office/drawing/2014/main" id="{5DDC793F-2CBC-4804-AD65-1153175E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219950"/>
            <a:ext cx="4114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CCECDB">
              <a:alpha val="45000"/>
            </a:srgbClr>
          </a:solidFill>
          <a:ln xmlns:a="http://schemas.openxmlformats.org/drawingml/2006/main" w="19050">
            <a:solidFill>
              <a:srgbClr val="37A537"/>
            </a:solidFill>
            <a:prstDash val="solid"/>
          </a:ln>
        </p:spPr>
      </p:sp>
      <p:sp>
        <p:nvSpPr>
          <p:cNvPr id="78" name="C-audit-title">
            <a:extLst xmlns:a="http://schemas.openxmlformats.org/drawingml/2006/main">
              <a:ext uri="{FF2B5EF4-FFF2-40B4-BE49-F238E27FC236}">
                <a16:creationId xmlns:a16="http://schemas.microsoft.com/office/drawing/2014/main" id="{213029C4-B1B2-47DA-8E15-B3C539C6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315200"/>
            <a:ext cx="3695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For each directed pair: solve the transfer; store trajectory, controls, and cost.</a:t>
            </a:r>
          </a:p>
        </p:txBody>
      </p:sp>
      <p:sp>
        <p:nvSpPr>
          <p:cNvPr id="79" name="C-audit-list">
            <a:extLst xmlns:a="http://schemas.openxmlformats.org/drawingml/2006/main">
              <a:ext uri="{FF2B5EF4-FFF2-40B4-BE49-F238E27FC236}">
                <a16:creationId xmlns:a16="http://schemas.microsoft.com/office/drawing/2014/main" id="{86D5C8B0-CF4F-40DF-8A5E-2D8C3DA5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81343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37A5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7A537"/>
                </a:solidFill>
                <a:latin typeface="Arial"/>
                <a:ea typeface="Arial"/>
                <a:cs typeface="Arial"/>
              </a:rPr>
              <a:t>Audit input, speed, terminal,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37A5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7A537"/>
                </a:solidFill>
                <a:latin typeface="Arial"/>
                <a:ea typeface="Arial"/>
                <a:cs typeface="Arial"/>
              </a:rPr>
              <a:t>clearance, and swept crossing.</a:t>
            </a:r>
          </a:p>
        </p:txBody>
      </p:sp>
      <p:sp>
        <p:nvSpPr>
          <p:cNvPr id="80" name="C-pass-box">
            <a:extLst xmlns:a="http://schemas.openxmlformats.org/drawingml/2006/main">
              <a:ext uri="{FF2B5EF4-FFF2-40B4-BE49-F238E27FC236}">
                <a16:creationId xmlns:a16="http://schemas.microsoft.com/office/drawing/2014/main" id="{219F4F66-E58D-4CF4-8BC7-E4201AAA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353300"/>
            <a:ext cx="1295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CECDB"/>
          </a:solidFill>
          <a:ln xmlns:a="http://schemas.openxmlformats.org/drawingml/2006/main" w="19050">
            <a:solidFill>
              <a:srgbClr val="37A537"/>
            </a:solidFill>
            <a:prstDash val="solid"/>
          </a:ln>
        </p:spPr>
      </p:sp>
      <p:sp>
        <p:nvSpPr>
          <p:cNvPr id="81" name="C-pass-text">
            <a:extLst xmlns:a="http://schemas.openxmlformats.org/drawingml/2006/main">
              <a:ext uri="{FF2B5EF4-FFF2-40B4-BE49-F238E27FC236}">
                <a16:creationId xmlns:a16="http://schemas.microsoft.com/office/drawing/2014/main" id="{066CEE39-CD67-48F6-8150-F843991C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742950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37A5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7A537"/>
                </a:solidFill>
                <a:latin typeface="Arial"/>
                <a:ea typeface="Arial"/>
                <a:cs typeface="Arial"/>
              </a:rPr>
              <a:t>PASS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37A5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7A537"/>
                </a:solidFill>
                <a:latin typeface="Arial"/>
                <a:ea typeface="Arial"/>
                <a:cs typeface="Arial"/>
              </a:rPr>
              <a:t>chi_ij = 1</a:t>
            </a:r>
          </a:p>
        </p:txBody>
      </p:sp>
      <p:sp>
        <p:nvSpPr>
          <p:cNvPr id="82" name="C-fail-box">
            <a:extLst xmlns:a="http://schemas.openxmlformats.org/drawingml/2006/main">
              <a:ext uri="{FF2B5EF4-FFF2-40B4-BE49-F238E27FC236}">
                <a16:creationId xmlns:a16="http://schemas.microsoft.com/office/drawing/2014/main" id="{23C761C8-D47C-4C90-BFCA-E316035B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8153400"/>
            <a:ext cx="1295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3CCD0"/>
          </a:solidFill>
          <a:ln xmlns:a="http://schemas.openxmlformats.org/drawingml/2006/main" w="19050">
            <a:solidFill>
              <a:srgbClr val="E46240"/>
            </a:solidFill>
            <a:prstDash val="dash"/>
          </a:ln>
        </p:spPr>
      </p:sp>
      <p:sp>
        <p:nvSpPr>
          <p:cNvPr id="83" name="C-fail-text">
            <a:extLst xmlns:a="http://schemas.openxmlformats.org/drawingml/2006/main">
              <a:ext uri="{FF2B5EF4-FFF2-40B4-BE49-F238E27FC236}">
                <a16:creationId xmlns:a16="http://schemas.microsoft.com/office/drawing/2014/main" id="{29DAE107-43E8-49C1-A859-CAECB759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822960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E4624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46240"/>
                </a:solidFill>
                <a:latin typeface="Arial"/>
                <a:ea typeface="Arial"/>
                <a:cs typeface="Arial"/>
              </a:rPr>
              <a:t>FAIL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E4624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46240"/>
                </a:solidFill>
                <a:latin typeface="Arial"/>
                <a:ea typeface="Arial"/>
                <a:cs typeface="Arial"/>
              </a:rPr>
              <a:t>chi_ij = 0</a:t>
            </a:r>
          </a:p>
        </p:txBody>
      </p:sp>
      <p:sp>
        <p:nvSpPr>
          <p:cNvPr id="84" name="D-node-1">
            <a:extLst xmlns:a="http://schemas.openxmlformats.org/drawingml/2006/main">
              <a:ext uri="{FF2B5EF4-FFF2-40B4-BE49-F238E27FC236}">
                <a16:creationId xmlns:a16="http://schemas.microsoft.com/office/drawing/2014/main" id="{5F4D4158-344B-4CCD-A389-EC4657F9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62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CCD0"/>
          </a:solidFill>
          <a:ln xmlns:a="http://schemas.openxmlformats.org/drawingml/2006/main" w="38100">
            <a:solidFill>
              <a:srgbClr val="750014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500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50014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85" name="D-node-2">
            <a:extLst xmlns:a="http://schemas.openxmlformats.org/drawingml/2006/main">
              <a:ext uri="{FF2B5EF4-FFF2-40B4-BE49-F238E27FC236}">
                <a16:creationId xmlns:a16="http://schemas.microsoft.com/office/drawing/2014/main" id="{9BCC5132-FF8A-431A-A861-D1D00543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429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87E9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7E9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87E9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6" name="D-node-3">
            <a:extLst xmlns:a="http://schemas.openxmlformats.org/drawingml/2006/main">
              <a:ext uri="{FF2B5EF4-FFF2-40B4-BE49-F238E27FC236}">
                <a16:creationId xmlns:a16="http://schemas.microsoft.com/office/drawing/2014/main" id="{9D44D06E-B5A9-4E84-9966-F2AFF4E5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77057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87E9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7E9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87E9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7" name="D-node-4">
            <a:extLst xmlns:a="http://schemas.openxmlformats.org/drawingml/2006/main">
              <a:ext uri="{FF2B5EF4-FFF2-40B4-BE49-F238E27FC236}">
                <a16:creationId xmlns:a16="http://schemas.microsoft.com/office/drawing/2014/main" id="{E3782103-E4DB-4234-B11E-FB7375E3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778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87E9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7E9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87E9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8" name="D-node-5">
            <a:extLst xmlns:a="http://schemas.openxmlformats.org/drawingml/2006/main">
              <a:ext uri="{FF2B5EF4-FFF2-40B4-BE49-F238E27FC236}">
                <a16:creationId xmlns:a16="http://schemas.microsoft.com/office/drawing/2014/main" id="{9029F798-10A4-4522-8867-F5E68829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505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87E9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7E9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87E9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90" name=""/>
          <p:cNvCxnSpPr>
            <a:stCxn xmlns:a="http://schemas.openxmlformats.org/drawingml/2006/main" id="84" idx="5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2549630" y="6169130"/>
            <a:ext cx="730040" cy="32999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50014"/>
            </a:solidFill>
            <a:prstDash val="solid"/>
            <a:tailEnd type="triangle" w="med" len="med"/>
          </a:ln>
        </p:spPr>
      </p:cxnSp>
      <p:cxnSp>
        <p:nvCxnSpPr>
          <p:cNvPr id="191" name=""/>
          <p:cNvCxnSpPr>
            <a:stCxn xmlns:a="http://schemas.openxmlformats.org/drawingml/2006/main" id="84" idx="3"/>
            <a:endCxn xmlns:a="http://schemas.openxmlformats.org/drawingml/2006/main" id="88" idx="7"/>
          </p:cNvCxnSpPr>
          <p:nvPr/>
        </p:nvCxnSpPr>
        <p:spPr>
          <a:xfrm xmlns:a="http://schemas.openxmlformats.org/drawingml/2006/main" flipH="1">
            <a:off x="1406630" y="6169130"/>
            <a:ext cx="806240" cy="40619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50014"/>
            </a:solidFill>
            <a:prstDash val="solid"/>
            <a:tailEnd type="triangle" w="med" len="med"/>
          </a:ln>
        </p:spPr>
      </p:cxnSp>
      <p:cxnSp>
        <p:nvCxnSpPr>
          <p:cNvPr id="192" name=""/>
          <p:cNvCxnSpPr>
            <a:stCxn xmlns:a="http://schemas.openxmlformats.org/drawingml/2006/main" id="85" idx="4"/>
            <a:endCxn xmlns:a="http://schemas.openxmlformats.org/drawingml/2006/main" id="86" idx="0"/>
          </p:cNvCxnSpPr>
          <p:nvPr/>
        </p:nvCxnSpPr>
        <p:spPr>
          <a:xfrm xmlns:a="http://schemas.openxmlformats.org/drawingml/2006/main" flipH="1">
            <a:off x="3162300" y="6905625"/>
            <a:ext cx="28575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7E92"/>
            </a:solidFill>
            <a:prstDash val="solid"/>
            <a:tailEnd type="triangle" w="med" len="med"/>
          </a:ln>
        </p:spPr>
      </p:cxnSp>
      <p:cxnSp>
        <p:nvCxnSpPr>
          <p:cNvPr id="193" name=""/>
          <p:cNvCxnSpPr>
            <a:stCxn xmlns:a="http://schemas.openxmlformats.org/drawingml/2006/main" id="86" idx="2"/>
            <a:endCxn xmlns:a="http://schemas.openxmlformats.org/drawingml/2006/main" id="87" idx="6"/>
          </p:cNvCxnSpPr>
          <p:nvPr/>
        </p:nvCxnSpPr>
        <p:spPr>
          <a:xfrm xmlns:a="http://schemas.openxmlformats.org/drawingml/2006/main" flipH="1">
            <a:off x="1933575" y="7943850"/>
            <a:ext cx="9906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7E92"/>
            </a:solidFill>
            <a:prstDash val="solid"/>
            <a:tailEnd type="triangle" w="med" len="med"/>
          </a:ln>
        </p:spPr>
      </p:cxnSp>
      <p:cxnSp>
        <p:nvCxnSpPr>
          <p:cNvPr id="194" name=""/>
          <p:cNvCxnSpPr>
            <a:stCxn xmlns:a="http://schemas.openxmlformats.org/drawingml/2006/main" id="87" idx="0"/>
            <a:endCxn xmlns:a="http://schemas.openxmlformats.org/drawingml/2006/main" id="88" idx="5"/>
          </p:cNvCxnSpPr>
          <p:nvPr/>
        </p:nvCxnSpPr>
        <p:spPr>
          <a:xfrm xmlns:a="http://schemas.openxmlformats.org/drawingml/2006/main" flipH="1" flipV="1">
            <a:off x="1406630" y="6912080"/>
            <a:ext cx="288820" cy="86984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7E92"/>
            </a:solidFill>
            <a:prstDash val="solid"/>
            <a:tailEnd type="triangle" w="med" len="med"/>
          </a:ln>
        </p:spPr>
      </p:cxnSp>
      <p:cxnSp>
        <p:nvCxnSpPr>
          <p:cNvPr id="195" name=""/>
          <p:cNvCxnSpPr>
            <a:stCxn xmlns:a="http://schemas.openxmlformats.org/drawingml/2006/main" id="88" idx="6"/>
            <a:endCxn xmlns:a="http://schemas.openxmlformats.org/drawingml/2006/main" id="85" idx="2"/>
          </p:cNvCxnSpPr>
          <p:nvPr/>
        </p:nvCxnSpPr>
        <p:spPr>
          <a:xfrm xmlns:a="http://schemas.openxmlformats.org/drawingml/2006/main" flipV="1">
            <a:off x="1476375" y="6667500"/>
            <a:ext cx="173355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E92"/>
            </a:solidFill>
            <a:prstDash val="solid"/>
            <a:tailEnd type="triangle" w="med" len="med"/>
          </a:ln>
        </p:spPr>
      </p:cxnSp>
      <p:cxnSp>
        <p:nvCxnSpPr>
          <p:cNvPr id="196" name=""/>
          <p:cNvCxnSpPr>
            <a:stCxn xmlns:a="http://schemas.openxmlformats.org/drawingml/2006/main" id="87" idx="7"/>
            <a:endCxn xmlns:a="http://schemas.openxmlformats.org/drawingml/2006/main" id="85" idx="3"/>
          </p:cNvCxnSpPr>
          <p:nvPr/>
        </p:nvCxnSpPr>
        <p:spPr>
          <a:xfrm xmlns:a="http://schemas.openxmlformats.org/drawingml/2006/main" flipV="1">
            <a:off x="1863830" y="6835880"/>
            <a:ext cx="1415840" cy="10157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3F98"/>
            </a:solidFill>
            <a:prstDash val="solid"/>
            <a:tailEnd type="triangle" w="med" len="med"/>
          </a:ln>
        </p:spPr>
      </p:cxnSp>
      <p:sp>
        <p:nvSpPr>
          <p:cNvPr id="96" name="D-current-label">
            <a:extLst xmlns:a="http://schemas.openxmlformats.org/drawingml/2006/main">
              <a:ext uri="{FF2B5EF4-FFF2-40B4-BE49-F238E27FC236}">
                <a16:creationId xmlns:a16="http://schemas.microsoft.com/office/drawing/2014/main" id="{E16C47BF-465A-4F78-8140-1887D6D9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75001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50014"/>
                </a:solidFill>
                <a:latin typeface="Arial"/>
                <a:ea typeface="Arial"/>
                <a:cs typeface="Arial"/>
              </a:rPr>
              <a:t>current graph state</a:t>
            </a:r>
          </a:p>
        </p:txBody>
      </p:sp>
      <p:sp>
        <p:nvSpPr>
          <p:cNvPr id="97" name="D-graph-note">
            <a:extLst xmlns:a="http://schemas.openxmlformats.org/drawingml/2006/main">
              <a:ext uri="{FF2B5EF4-FFF2-40B4-BE49-F238E27FC236}">
                <a16:creationId xmlns:a16="http://schemas.microsoft.com/office/drawing/2014/main" id="{91005FB6-BD78-4C5B-BA7C-3E892E38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37A5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7A537"/>
                </a:solidFill>
                <a:latin typeface="Arial"/>
                <a:ea typeface="Arial"/>
                <a:cs typeface="Arial"/>
              </a:rPr>
              <a:t>only chi_ij = 1 edges enter the shielded action set A_sh(s_k)</a:t>
            </a:r>
          </a:p>
        </p:txBody>
      </p:sp>
      <p:sp>
        <p:nvSpPr>
          <p:cNvPr id="98" name="D-adp-box">
            <a:extLst xmlns:a="http://schemas.openxmlformats.org/drawingml/2006/main">
              <a:ext uri="{FF2B5EF4-FFF2-40B4-BE49-F238E27FC236}">
                <a16:creationId xmlns:a16="http://schemas.microsoft.com/office/drawing/2014/main" id="{015F8AC9-BEBB-4490-9B37-087434CA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115050"/>
            <a:ext cx="2209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3CCD0">
              <a:alpha val="45000"/>
            </a:srgbClr>
          </a:solidFill>
          <a:ln xmlns:a="http://schemas.openxmlformats.org/drawingml/2006/main" w="28575">
            <a:solidFill>
              <a:srgbClr val="750014"/>
            </a:solidFill>
            <a:prstDash val="solid"/>
          </a:ln>
        </p:spPr>
      </p:sp>
      <p:sp>
        <p:nvSpPr>
          <p:cNvPr id="99" name="D-adp-title">
            <a:extLst xmlns:a="http://schemas.openxmlformats.org/drawingml/2006/main">
              <a:ext uri="{FF2B5EF4-FFF2-40B4-BE49-F238E27FC236}">
                <a16:creationId xmlns:a16="http://schemas.microsoft.com/office/drawing/2014/main" id="{4736F8E5-D936-4F1A-B8CF-0C90EBF4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267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75001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50014"/>
                </a:solidFill>
                <a:latin typeface="Arial"/>
                <a:ea typeface="Arial"/>
                <a:cs typeface="Arial"/>
              </a:rPr>
              <a:t>Rollout ADP</a:t>
            </a:r>
          </a:p>
        </p:txBody>
      </p:sp>
      <p:sp>
        <p:nvSpPr>
          <p:cNvPr id="100" name="D-adp-body">
            <a:extLst xmlns:a="http://schemas.openxmlformats.org/drawingml/2006/main">
              <a:ext uri="{FF2B5EF4-FFF2-40B4-BE49-F238E27FC236}">
                <a16:creationId xmlns:a16="http://schemas.microsoft.com/office/drawing/2014/main" id="{9C045FF9-7611-413F-B42F-26D40F3A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858000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depth-3 lookahead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feasible completion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execute; replan</a:t>
            </a:r>
          </a:p>
        </p:txBody>
      </p:sp>
      <p:cxnSp>
        <p:nvCxnSpPr>
          <p:cNvPr id="202" name=""/>
          <p:cNvCxnSpPr>
            <a:stCxn xmlns:a="http://schemas.openxmlformats.org/drawingml/2006/main" id="85" idx="6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3686175" y="6667500"/>
            <a:ext cx="638175" cy="4667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50014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56281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2026-08-10T05:13:45.2150000Z</dcterms:created>
  <dcterms:modified xsi:type="dcterms:W3CDTF">2026-08-10T05:13:45.2150000Z</dcterms:modified>
</coreProperties>
</file>